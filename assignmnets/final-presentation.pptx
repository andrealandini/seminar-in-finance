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300" r:id="rId10"/>
  </p:sldIdLst>
  <p:sldSz cx="9144000" cy="6858000" type="screen4x3"/>
  <p:notesSz cx="7099300" cy="10234613"/>
  <p:custDataLst>
    <p:tags r:id="rId13"/>
  </p:custDataLst>
  <p:defaultTextStyle>
    <a:defPPr>
      <a:defRPr lang="de-DE"/>
    </a:defPPr>
    <a:lvl1pPr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1pPr>
    <a:lvl2pPr marL="4572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2pPr>
    <a:lvl3pPr marL="9144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3pPr>
    <a:lvl4pPr marL="13716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4pPr>
    <a:lvl5pPr marL="1828800" algn="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-112" charset="0"/>
        <a:ea typeface="ＭＳ Ｐゴシック" pitchFamily="-112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9">
          <p15:clr>
            <a:srgbClr val="A4A3A4"/>
          </p15:clr>
        </p15:guide>
        <p15:guide id="2" pos="44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B00"/>
    <a:srgbClr val="BA261A"/>
    <a:srgbClr val="C01D02"/>
    <a:srgbClr val="373737"/>
    <a:srgbClr val="CCCC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32" autoAdjust="0"/>
    <p:restoredTop sz="94675"/>
  </p:normalViewPr>
  <p:slideViewPr>
    <p:cSldViewPr snapToGrid="0">
      <p:cViewPr>
        <p:scale>
          <a:sx n="119" d="100"/>
          <a:sy n="119" d="100"/>
        </p:scale>
        <p:origin x="552" y="360"/>
      </p:cViewPr>
      <p:guideLst>
        <p:guide orient="horz" pos="3849"/>
        <p:guide pos="4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902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t" anchorCtr="0" compatLnSpc="1">
            <a:prstTxWarp prst="textNoShape">
              <a:avLst/>
            </a:prstTxWarp>
          </a:bodyPr>
          <a:lstStyle>
            <a:lvl1pPr algn="l" defTabSz="936625">
              <a:defRPr sz="1200" b="0"/>
            </a:lvl1pPr>
          </a:lstStyle>
          <a:p>
            <a:endParaRPr lang="de-CH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t" anchorCtr="0" compatLnSpc="1">
            <a:prstTxWarp prst="textNoShape">
              <a:avLst/>
            </a:prstTxWarp>
          </a:bodyPr>
          <a:lstStyle>
            <a:lvl1pPr defTabSz="936625">
              <a:defRPr sz="1200" b="0"/>
            </a:lvl1pPr>
          </a:lstStyle>
          <a:p>
            <a:endParaRPr lang="de-CH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b" anchorCtr="0" compatLnSpc="1">
            <a:prstTxWarp prst="textNoShape">
              <a:avLst/>
            </a:prstTxWarp>
          </a:bodyPr>
          <a:lstStyle>
            <a:lvl1pPr algn="l" defTabSz="936625">
              <a:defRPr sz="1200" b="0"/>
            </a:lvl1pPr>
          </a:lstStyle>
          <a:p>
            <a:endParaRPr lang="de-CH"/>
          </a:p>
        </p:txBody>
      </p:sp>
      <p:sp>
        <p:nvSpPr>
          <p:cNvPr id="389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b" anchorCtr="0" compatLnSpc="1">
            <a:prstTxWarp prst="textNoShape">
              <a:avLst/>
            </a:prstTxWarp>
          </a:bodyPr>
          <a:lstStyle>
            <a:lvl1pPr defTabSz="936625">
              <a:defRPr sz="1200" b="0"/>
            </a:lvl1pPr>
          </a:lstStyle>
          <a:p>
            <a:fld id="{E1AFB52F-EDF4-460A-94F4-AF50AD315B96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960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1338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t" anchorCtr="0" compatLnSpc="1">
            <a:prstTxWarp prst="textNoShape">
              <a:avLst/>
            </a:prstTxWarp>
          </a:bodyPr>
          <a:lstStyle>
            <a:lvl1pPr algn="l" defTabSz="936625">
              <a:defRPr sz="1200" b="0">
                <a:latin typeface="Times New Roman" pitchFamily="-112" charset="0"/>
              </a:defRPr>
            </a:lvl1pPr>
          </a:lstStyle>
          <a:p>
            <a:endParaRPr lang="de-CH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30663" y="0"/>
            <a:ext cx="3081337" cy="54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t" anchorCtr="0" compatLnSpc="1">
            <a:prstTxWarp prst="textNoShape">
              <a:avLst/>
            </a:prstTxWarp>
          </a:bodyPr>
          <a:lstStyle>
            <a:lvl1pPr defTabSz="936625">
              <a:defRPr sz="1200" b="0">
                <a:latin typeface="Times New Roman" pitchFamily="-112" charset="0"/>
              </a:defRPr>
            </a:lvl1pPr>
          </a:lstStyle>
          <a:p>
            <a:endParaRPr lang="de-CH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77900" y="773113"/>
            <a:ext cx="5156200" cy="3867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72038"/>
            <a:ext cx="5216525" cy="4564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die Formate des Vorlagentextes zu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4075"/>
            <a:ext cx="30813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b" anchorCtr="0" compatLnSpc="1">
            <a:prstTxWarp prst="textNoShape">
              <a:avLst/>
            </a:prstTxWarp>
          </a:bodyPr>
          <a:lstStyle>
            <a:lvl1pPr algn="l" defTabSz="936625">
              <a:defRPr sz="1200" b="0">
                <a:latin typeface="Times New Roman" pitchFamily="-112" charset="0"/>
              </a:defRPr>
            </a:lvl1pPr>
          </a:lstStyle>
          <a:p>
            <a:endParaRPr lang="de-CH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0663" y="9744075"/>
            <a:ext cx="3081337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625" tIns="46813" rIns="93625" bIns="46813" numCol="1" anchor="b" anchorCtr="0" compatLnSpc="1">
            <a:prstTxWarp prst="textNoShape">
              <a:avLst/>
            </a:prstTxWarp>
          </a:bodyPr>
          <a:lstStyle>
            <a:lvl1pPr defTabSz="936625">
              <a:defRPr sz="1200" b="0">
                <a:latin typeface="Times New Roman" pitchFamily="-112" charset="0"/>
              </a:defRPr>
            </a:lvl1pPr>
          </a:lstStyle>
          <a:p>
            <a:fld id="{FF099009-7033-42CB-B5B9-D7D1142C221D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56846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32" charset="0"/>
        <a:ea typeface="ＭＳ Ｐゴシック" pitchFamily="32" charset="-128"/>
        <a:cs typeface="ＭＳ Ｐゴシック" pitchFamily="3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32" charset="0"/>
        <a:ea typeface="ＭＳ Ｐゴシック" pitchFamily="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32" charset="0"/>
        <a:ea typeface="ＭＳ Ｐゴシック" pitchFamily="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32" charset="0"/>
        <a:ea typeface="ＭＳ Ｐゴシック" pitchFamily="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32" charset="0"/>
        <a:ea typeface="ＭＳ Ｐゴシック" pitchFamily="3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B606ADB2-19BA-4BB2-9FC8-890E42EF6433}" type="slidenum">
              <a:rPr lang="de-DE"/>
              <a:pPr/>
              <a:t>1</a:t>
            </a:fld>
            <a:endParaRPr lang="de-DE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de-CH">
              <a:latin typeface="Times" pitchFamily="-112" charset="0"/>
              <a:ea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2831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>
            <a:lvl1pPr>
              <a:defRPr lang="de-DE" sz="3400" b="0" dirty="0" smtClean="0">
                <a:solidFill>
                  <a:srgbClr val="C00000"/>
                </a:solidFill>
                <a:latin typeface="Calibri" pitchFamily="-112" charset="0"/>
                <a:ea typeface="ＭＳ Ｐゴシック" pitchFamily="32" charset="-128"/>
                <a:cs typeface="Arial" charset="0"/>
              </a:defRPr>
            </a:lvl1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Mastertitel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 sz="2400">
                <a:solidFill>
                  <a:srgbClr val="C82B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Masteruntertitel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512762"/>
          </a:xfrm>
          <a:prstGeom prst="rect">
            <a:avLst/>
          </a:prstGeom>
        </p:spPr>
        <p:txBody>
          <a:bodyPr vert="horz"/>
          <a:lstStyle>
            <a:lvl1pPr algn="l">
              <a:defRPr sz="2400" baseline="0">
                <a:solidFill>
                  <a:srgbClr val="C82B00"/>
                </a:solidFill>
              </a:defRPr>
            </a:lvl1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Mastertitel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57200" y="1066800"/>
            <a:ext cx="8229600" cy="4525963"/>
          </a:xfrm>
          <a:prstGeom prst="rect">
            <a:avLst/>
          </a:prstGeom>
        </p:spPr>
        <p:txBody>
          <a:bodyPr vert="horz"/>
          <a:lstStyle>
            <a:lvl1pPr>
              <a:buFont typeface="Calibri" pitchFamily="34" charset="0"/>
              <a:buChar char="–"/>
              <a:defRPr sz="1800">
                <a:latin typeface="+mj-lt"/>
              </a:defRPr>
            </a:lvl1pPr>
            <a:lvl2pPr>
              <a:buFont typeface="Calibri" pitchFamily="34" charset="0"/>
              <a:buChar char="&gt;"/>
              <a:defRPr sz="1800">
                <a:latin typeface="+mj-lt"/>
              </a:defRPr>
            </a:lvl2pPr>
            <a:lvl3pPr>
              <a:buFont typeface="Calibri" pitchFamily="34" charset="0"/>
              <a:buChar char="»"/>
              <a:defRPr sz="1800">
                <a:latin typeface="+mj-lt"/>
              </a:defRPr>
            </a:lvl3pPr>
            <a:lvl4pPr>
              <a:defRPr sz="1800">
                <a:latin typeface="+mj-lt"/>
              </a:defRPr>
            </a:lvl4pPr>
            <a:lvl5pPr>
              <a:defRPr sz="1800">
                <a:latin typeface="+mj-lt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3400" b="1" cap="all">
                <a:solidFill>
                  <a:srgbClr val="C82B00"/>
                </a:solidFill>
              </a:defRPr>
            </a:lvl1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Mastertitel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 err="1"/>
              <a:t>Mastertextforamat</a:t>
            </a:r>
            <a:r>
              <a:rPr lang="de-DE" dirty="0"/>
              <a:t> bearbeiten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538162"/>
          </a:xfrm>
          <a:prstGeom prst="rect">
            <a:avLst/>
          </a:prstGeom>
        </p:spPr>
        <p:txBody>
          <a:bodyPr vert="horz"/>
          <a:lstStyle>
            <a:lvl1pPr algn="l">
              <a:defRPr sz="2400">
                <a:solidFill>
                  <a:srgbClr val="C82B00"/>
                </a:solidFill>
              </a:defRPr>
            </a:lvl1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Mastertitel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016000"/>
            <a:ext cx="4038600" cy="4525963"/>
          </a:xfrm>
          <a:prstGeom prst="rect">
            <a:avLst/>
          </a:prstGeom>
        </p:spPr>
        <p:txBody>
          <a:bodyPr vert="horz"/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Font typeface="Symbol" pitchFamily="18" charset="2"/>
              <a:buChar char="-"/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1pPr>
            <a:lvl2pPr algn="l" rtl="0" eaLnBrk="0" fontAlgn="base" hangingPunct="0">
              <a:spcBef>
                <a:spcPct val="20000"/>
              </a:spcBef>
              <a:spcAft>
                <a:spcPct val="0"/>
              </a:spcAft>
              <a:buFont typeface="Calibri" pitchFamily="34" charset="0"/>
              <a:buChar char="&gt;"/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2pPr>
            <a:lvl3pPr algn="l" rtl="0" eaLnBrk="0" fontAlgn="base" hangingPunct="0">
              <a:spcBef>
                <a:spcPct val="20000"/>
              </a:spcBef>
              <a:spcAft>
                <a:spcPct val="0"/>
              </a:spcAft>
              <a:buFont typeface="Calibri" pitchFamily="34" charset="0"/>
              <a:buChar char="»"/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3pPr>
            <a:lvl4pPr algn="l" rtl="0" eaLnBrk="0" fontAlgn="base" hangingPunct="0">
              <a:spcBef>
                <a:spcPct val="20000"/>
              </a:spcBef>
              <a:spcAft>
                <a:spcPct val="0"/>
              </a:spcAft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4pPr>
            <a:lvl5pPr algn="l" rtl="0" eaLnBrk="0" fontAlgn="base" hangingPunct="0">
              <a:spcBef>
                <a:spcPct val="20000"/>
              </a:spcBef>
              <a:spcAft>
                <a:spcPct val="0"/>
              </a:spcAft>
              <a:defRPr lang="de-DE" sz="1800" dirty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 hasCustomPrompt="1"/>
          </p:nvPr>
        </p:nvSpPr>
        <p:spPr>
          <a:xfrm>
            <a:off x="4648200" y="1028700"/>
            <a:ext cx="4038600" cy="4525963"/>
          </a:xfrm>
          <a:prstGeom prst="rect">
            <a:avLst/>
          </a:prstGeom>
        </p:spPr>
        <p:txBody>
          <a:bodyPr vert="horz"/>
          <a:lstStyle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Font typeface="Symbol" pitchFamily="18" charset="2"/>
              <a:buChar char="-"/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1pPr>
            <a:lvl2pPr algn="l" rtl="0" eaLnBrk="0" fontAlgn="base" hangingPunct="0">
              <a:spcBef>
                <a:spcPct val="20000"/>
              </a:spcBef>
              <a:spcAft>
                <a:spcPct val="0"/>
              </a:spcAft>
              <a:buFont typeface="Calibri" pitchFamily="34" charset="0"/>
              <a:buChar char="&gt;"/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2pPr>
            <a:lvl3pPr algn="l" rtl="0" eaLnBrk="0" fontAlgn="base" hangingPunct="0">
              <a:spcBef>
                <a:spcPct val="20000"/>
              </a:spcBef>
              <a:spcAft>
                <a:spcPct val="0"/>
              </a:spcAft>
              <a:buFont typeface="Calibri" pitchFamily="34" charset="0"/>
              <a:buChar char="»"/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3pPr>
            <a:lvl4pPr algn="l" rtl="0" eaLnBrk="0" fontAlgn="base" hangingPunct="0">
              <a:spcBef>
                <a:spcPct val="20000"/>
              </a:spcBef>
              <a:spcAft>
                <a:spcPct val="0"/>
              </a:spcAft>
              <a:defRPr lang="de-DE" sz="1800" dirty="0" smtClean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4pPr>
            <a:lvl5pPr algn="l" rtl="0" eaLnBrk="0" fontAlgn="base" hangingPunct="0">
              <a:spcBef>
                <a:spcPct val="20000"/>
              </a:spcBef>
              <a:spcAft>
                <a:spcPct val="0"/>
              </a:spcAft>
              <a:defRPr lang="de-DE" sz="1800" dirty="0">
                <a:solidFill>
                  <a:schemeClr val="tx1"/>
                </a:solidFill>
                <a:latin typeface="+mj-lt"/>
                <a:ea typeface="ＭＳ Ｐゴシック" pitchFamily="32" charset="-128"/>
                <a:cs typeface="ＭＳ Ｐゴシック" pitchFamily="32" charset="-128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512762"/>
          </a:xfrm>
          <a:prstGeom prst="rect">
            <a:avLst/>
          </a:prstGeom>
        </p:spPr>
        <p:txBody>
          <a:bodyPr vert="horz"/>
          <a:lstStyle>
            <a:lvl1pPr algn="l">
              <a:defRPr sz="2400">
                <a:solidFill>
                  <a:srgbClr val="C82B00"/>
                </a:solidFill>
              </a:defRPr>
            </a:lvl1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Mastertitel</a:t>
            </a:r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>
                <a:solidFill>
                  <a:srgbClr val="C82B00"/>
                </a:solidFill>
              </a:defRPr>
            </a:lvl1pPr>
          </a:lstStyle>
          <a:p>
            <a:r>
              <a:rPr lang="de-DE" b="0" dirty="0">
                <a:solidFill>
                  <a:srgbClr val="BA261A"/>
                </a:solidFill>
                <a:latin typeface="Calibri" pitchFamily="-112" charset="0"/>
                <a:cs typeface="Arial" charset="0"/>
              </a:rPr>
              <a:t>Mastertitel</a:t>
            </a:r>
            <a:endParaRPr lang="de-DE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Text Box 14"/>
          <p:cNvSpPr txBox="1">
            <a:spLocks noChangeArrowheads="1"/>
          </p:cNvSpPr>
          <p:nvPr userDrawn="1"/>
        </p:nvSpPr>
        <p:spPr bwMode="auto">
          <a:xfrm>
            <a:off x="6997700" y="6043613"/>
            <a:ext cx="193675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de-DE" sz="800" b="0" dirty="0">
                <a:latin typeface="Calibri" pitchFamily="-112" charset="0"/>
                <a:ea typeface="Calibri" pitchFamily="-112" charset="0"/>
                <a:cs typeface="Calibri" pitchFamily="-112" charset="0"/>
              </a:rPr>
              <a:t>Noise vs. Signal in Prediction Markets</a:t>
            </a:r>
          </a:p>
        </p:txBody>
      </p:sp>
      <p:sp>
        <p:nvSpPr>
          <p:cNvPr id="1039" name="Text Box 15"/>
          <p:cNvSpPr txBox="1">
            <a:spLocks noChangeArrowheads="1"/>
          </p:cNvSpPr>
          <p:nvPr userDrawn="1"/>
        </p:nvSpPr>
        <p:spPr bwMode="auto">
          <a:xfrm>
            <a:off x="7518400" y="6170613"/>
            <a:ext cx="141605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de-DE" sz="800" b="0" dirty="0">
                <a:latin typeface="Calibri"/>
                <a:ea typeface="+mn-ea"/>
                <a:cs typeface="Calibri"/>
              </a:rPr>
              <a:t>Interim Presentation | March 5, 2026</a:t>
            </a:r>
          </a:p>
        </p:txBody>
      </p:sp>
      <p:pic>
        <p:nvPicPr>
          <p:cNvPr id="1028" name="Bild 8" descr="UNILI-Logo_de_pos_rgb_farbig_10mm.png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 bwMode="auto">
          <a:xfrm>
            <a:off x="238718" y="6115050"/>
            <a:ext cx="1775226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6" r:id="rId2"/>
    <p:sldLayoutId id="2147483655" r:id="rId3"/>
    <p:sldLayoutId id="2147483654" r:id="rId4"/>
    <p:sldLayoutId id="2147483652" r:id="rId5"/>
    <p:sldLayoutId id="2147483649" r:id="rId6"/>
    <p:sldLayoutId id="2147483651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B00"/>
          </a:solidFill>
          <a:latin typeface="+mj-lt"/>
          <a:ea typeface="ＭＳ Ｐゴシック" pitchFamily="32" charset="-128"/>
          <a:cs typeface="ＭＳ Ｐゴシック" pitchFamily="32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-112" charset="0"/>
          <a:ea typeface="ＭＳ Ｐゴシック" pitchFamily="32" charset="-128"/>
          <a:cs typeface="ＭＳ Ｐゴシック" pitchFamily="3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-112" charset="0"/>
          <a:ea typeface="ＭＳ Ｐゴシック" pitchFamily="32" charset="-128"/>
          <a:cs typeface="ＭＳ Ｐゴシック" pitchFamily="3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-112" charset="0"/>
          <a:ea typeface="ＭＳ Ｐゴシック" pitchFamily="32" charset="-128"/>
          <a:cs typeface="ＭＳ Ｐゴシック" pitchFamily="3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-112" charset="0"/>
          <a:ea typeface="ＭＳ Ｐゴシック" pitchFamily="32" charset="-128"/>
          <a:cs typeface="ＭＳ Ｐゴシック" pitchFamily="3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3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3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3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3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32" charset="-128"/>
          <a:cs typeface="ＭＳ Ｐゴシック" pitchFamily="32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32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32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32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2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2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2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2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32" charset="-128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750000" cy="2261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2000" b="1" i="0" dirty="0">
                <a:latin typeface="Calibri"/>
              </a:rPr>
              <a:t>Empirical Evidence from the 2025 Papal Conclave on Polymarket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0" i="0" dirty="0">
                <a:latin typeface="Calibri"/>
              </a:rPr>
              <a:t>Seminar in Finance  |  SS 2026</a:t>
            </a:r>
          </a:p>
          <a:p>
            <a:pPr algn="l">
              <a:lnSpc>
                <a:spcPct val="110000"/>
              </a:lnSpc>
            </a:pPr>
            <a:r>
              <a:rPr lang="en-US" sz="1700" b="0" i="0" dirty="0">
                <a:latin typeface="Calibri"/>
              </a:rPr>
              <a:t>Master in Innovative Finance  |  Universität Liechtenstein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Interim Presentation  |  March 5, 2026</a:t>
            </a:r>
          </a:p>
          <a:p>
            <a:pPr algn="l">
              <a:lnSpc>
                <a:spcPct val="110000"/>
              </a:lnSpc>
            </a:pPr>
            <a:endParaRPr lang="en-US" sz="1700" dirty="0">
              <a:solidFill>
                <a:srgbClr val="C82B00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dirty="0">
                <a:solidFill>
                  <a:srgbClr val="C82B00"/>
                </a:solidFill>
                <a:latin typeface="Calibri"/>
              </a:rPr>
              <a:t>Andrea Landini, Simone </a:t>
            </a:r>
            <a:r>
              <a:rPr lang="en-US" sz="1700" dirty="0" err="1">
                <a:solidFill>
                  <a:srgbClr val="C82B00"/>
                </a:solidFill>
                <a:latin typeface="Calibri"/>
              </a:rPr>
              <a:t>Fruner</a:t>
            </a:r>
            <a:r>
              <a:rPr lang="en-US" sz="1700" dirty="0">
                <a:solidFill>
                  <a:srgbClr val="C82B00"/>
                </a:solidFill>
                <a:latin typeface="Calibri"/>
              </a:rPr>
              <a:t>, Emre </a:t>
            </a:r>
            <a:r>
              <a:rPr lang="en-US" sz="1700" dirty="0" err="1">
                <a:solidFill>
                  <a:srgbClr val="C82B00"/>
                </a:solidFill>
                <a:latin typeface="Calibri"/>
              </a:rPr>
              <a:t>Dalmizrak</a:t>
            </a:r>
            <a:r>
              <a:rPr lang="en-US" sz="1700" dirty="0">
                <a:solidFill>
                  <a:srgbClr val="C82B00"/>
                </a:solidFill>
                <a:latin typeface="Calibri"/>
              </a:rPr>
              <a:t>, Jan </a:t>
            </a:r>
            <a:r>
              <a:rPr lang="en-US" sz="1700" dirty="0" err="1">
                <a:solidFill>
                  <a:srgbClr val="C82B00"/>
                </a:solidFill>
                <a:latin typeface="Calibri"/>
              </a:rPr>
              <a:t>Mokrosinski</a:t>
            </a:r>
            <a:endParaRPr lang="en-US" sz="1700" b="1" i="0" dirty="0">
              <a:solidFill>
                <a:srgbClr val="C82B00"/>
              </a:solidFill>
              <a:latin typeface="Calibri"/>
            </a:endParaRP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Noise vs. Signal in Decentralized Prediction Markets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750000" cy="2756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1.  Research Background &amp; Research Question</a:t>
            </a:r>
          </a:p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2.  Data: 482k Trades from Dune Analytics / Polymarket</a:t>
            </a:r>
          </a:p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3.  Methodology: Three-Step Approach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4.  Method 1 Results: Realized Variance</a:t>
            </a:r>
            <a:endParaRPr lang="en-US" sz="1600" b="1" i="0" dirty="0">
              <a:solidFill>
                <a:srgbClr val="C82B00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5.  Method 2 Results: Realized Kernel</a:t>
            </a:r>
            <a:endParaRPr lang="en-US" sz="1600" b="1" i="0" dirty="0">
              <a:solidFill>
                <a:srgbClr val="C82B00"/>
              </a:solidFill>
              <a:latin typeface="Calibri"/>
            </a:endParaRPr>
          </a:p>
          <a:p>
            <a:pPr marL="342900" indent="-342900" algn="l">
              <a:lnSpc>
                <a:spcPct val="115000"/>
              </a:lnSpc>
              <a:buAutoNum type="arabicPeriod" startAt="6"/>
            </a:pPr>
            <a:r>
              <a:rPr lang="en-US" sz="1600" b="0" i="0" dirty="0">
                <a:latin typeface="Calibri"/>
              </a:rPr>
              <a:t>Method 3 Results: State-Space UC Model</a:t>
            </a:r>
          </a:p>
          <a:p>
            <a:pPr marL="228600" indent="-228600" algn="l">
              <a:lnSpc>
                <a:spcPct val="115000"/>
              </a:lnSpc>
              <a:buAutoNum type="arabicPeriod" startAt="6"/>
            </a:pPr>
            <a:endParaRPr lang="en-US" sz="1200" dirty="0"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7.  Key Findings &amp; The Prevost Puzzle</a:t>
            </a:r>
          </a:p>
          <a:p>
            <a:pPr algn="l">
              <a:lnSpc>
                <a:spcPct val="115000"/>
              </a:lnSpc>
            </a:pPr>
            <a:r>
              <a:rPr lang="en-US" sz="1600" b="0" i="0" dirty="0">
                <a:latin typeface="Calibri"/>
              </a:rPr>
              <a:t>8.  Next Steps for Final Paper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223494" cy="386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50" b="0" i="0" dirty="0">
                <a:latin typeface="Calibri"/>
              </a:rPr>
              <a:t>Prediction markets aggregate dispersed information into real-time probabilities, potentially outperforming polls. But prices can be driven by noise: thin liquidity, herd behavior, and speculation rather than fundamentals.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800" b="1" i="0" dirty="0">
                <a:solidFill>
                  <a:srgbClr val="C82B00"/>
                </a:solidFill>
                <a:latin typeface="Calibri"/>
              </a:rPr>
              <a:t>The 2025 Papal Conclave as a Natural Experiment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Sistine Chapel doors closed: May 7, 17:46 Rome time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New Pope announced: May 8, 18:07 - 19:12 Rome time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solidFill>
                  <a:srgbClr val="555555"/>
                </a:solidFill>
                <a:latin typeface="Calibri"/>
              </a:rPr>
              <a:t>A credible ~24-hour information blackout where no public signal could arrive from inside the conclave.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800" b="1" i="0" dirty="0">
                <a:solidFill>
                  <a:srgbClr val="C82B00"/>
                </a:solidFill>
                <a:latin typeface="Calibri"/>
              </a:rPr>
              <a:t>Research Question</a:t>
            </a:r>
          </a:p>
          <a:p>
            <a:pPr algn="l">
              <a:lnSpc>
                <a:spcPct val="110000"/>
              </a:lnSpc>
            </a:pPr>
            <a:r>
              <a:rPr lang="en-US" sz="1650" b="0" i="0" dirty="0">
                <a:latin typeface="Calibri"/>
              </a:rPr>
              <a:t>How much of the variation in Polymarket-implied probabilities for papal candidates reflects pure noise (speculation, herding, liquidity shocks) versus rational updating based on publicly observable signals?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Research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452094" cy="4567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Market Overview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Total trades (all tokens): 482,861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Yes-token trades (analysis set): 314,787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Candidates tracked: 26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Created: Feb 24, 2025  |  Resolved: May 8, 2025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Winner: Robert Francis Prevost (Pope Leo XIV)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Data Source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Dune Analytics query on polymarket_polygon.market_trades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DuneSQL with 29 conditionId filters, downloaded via REST API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Sub-second timestamps, maker/taker wallets, USD volumes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Conclave Window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Trades during conclave: 47,918  |  Trades in control (matched 24h pre): 24,554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Conclave = 15.2% of all trades in just ~1 day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Top 3 by conclave activity: L.A. Tagle (3,524 trades, $107k)  |  P. Parolin (3,153, $185k)  |  </a:t>
            </a:r>
            <a:r>
              <a:rPr lang="en-US" sz="1550" b="0" i="0" dirty="0" err="1">
                <a:latin typeface="Calibri"/>
              </a:rPr>
              <a:t>Pizzaballa</a:t>
            </a:r>
            <a:r>
              <a:rPr lang="en-US" sz="1550" b="0" i="0" dirty="0">
                <a:latin typeface="Calibri"/>
              </a:rPr>
              <a:t> (3,132, $39k)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Data: </a:t>
            </a:r>
            <a:r>
              <a:rPr lang="en-US" sz="2200" b="0" i="0" dirty="0" err="1">
                <a:solidFill>
                  <a:srgbClr val="C82B00"/>
                </a:solidFill>
                <a:latin typeface="Calibri"/>
              </a:rPr>
              <a:t>Polymarket</a:t>
            </a:r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 - Who Will Be the Next Pope?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750000" cy="3490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800" b="1" i="0" dirty="0">
                <a:solidFill>
                  <a:srgbClr val="C82B00"/>
                </a:solidFill>
                <a:latin typeface="Calibri"/>
              </a:rPr>
              <a:t>Step 1 - Realized Variance Benchmark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Compare RV of 1-min log-returns in conclave vs matched 24h control window.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solidFill>
                  <a:srgbClr val="555555"/>
                </a:solidFill>
                <a:latin typeface="Calibri"/>
              </a:rPr>
              <a:t>Excess volatility during info-blackout = speculative churn.  (Barndorff-Nielsen &amp; Shephard, 2002)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800" b="1" i="0" dirty="0">
                <a:solidFill>
                  <a:srgbClr val="C82B00"/>
                </a:solidFill>
                <a:latin typeface="Calibri"/>
              </a:rPr>
              <a:t>Step 2 - Realized Kernel Estimator  (Barndorff-Nielsen et al., 2008)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Microstructure-robust estimator using Parzen-weighted return autocovariances on raw tick data.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solidFill>
                  <a:srgbClr val="555555"/>
                </a:solidFill>
                <a:latin typeface="Calibri"/>
              </a:rPr>
              <a:t>Noise Gap = RV − RK measures bid-ask bounce and non-informational friction.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800" b="1" i="0" dirty="0">
                <a:solidFill>
                  <a:srgbClr val="C82B00"/>
                </a:solidFill>
                <a:latin typeface="Calibri"/>
              </a:rPr>
              <a:t>Step 3 - State-Space UC Model  (Harvey, 2010)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Decompose 1-min prices: permanent random-walk (signal) + mean-reverting cycle (noise).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solidFill>
                  <a:srgbClr val="555555"/>
                </a:solidFill>
                <a:latin typeface="Calibri"/>
              </a:rPr>
              <a:t>Estimated via Kalman filter / MLE. Noise share = transitory variance / total variance.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550" b="1" i="0" dirty="0">
                <a:latin typeface="Calibri"/>
              </a:rPr>
              <a:t>Multi-resolution data: </a:t>
            </a:r>
            <a:r>
              <a:rPr lang="en-US" sz="1550" b="0" i="0" dirty="0">
                <a:solidFill>
                  <a:srgbClr val="C82B00"/>
                </a:solidFill>
                <a:latin typeface="Calibri"/>
              </a:rPr>
              <a:t>1-min bars for Methods 1 &amp; 3  |  Raw ticks for Method 2  |  All 26 candidates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Methodology: Three-Step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750000" cy="53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22 candidates with valid conclave + control windows  |  1-min bars, n = 1,461 (conclave) / 1,440 (control)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650" b="0" i="0" dirty="0">
                <a:latin typeface="Calibri"/>
              </a:rPr>
              <a:t>Average variance ratio: </a:t>
            </a:r>
            <a:r>
              <a:rPr lang="en-US" sz="1650" b="1" i="0" dirty="0">
                <a:solidFill>
                  <a:srgbClr val="C82B00"/>
                </a:solidFill>
                <a:latin typeface="Calibri"/>
              </a:rPr>
              <a:t>1.88x</a:t>
            </a:r>
            <a:r>
              <a:rPr lang="en-US" sz="1650" b="0" i="0" dirty="0">
                <a:latin typeface="Calibri"/>
              </a:rPr>
              <a:t>   Median: </a:t>
            </a:r>
            <a:r>
              <a:rPr lang="en-US" sz="1650" b="1" i="0" dirty="0">
                <a:latin typeface="Calibri"/>
              </a:rPr>
              <a:t>1.80x</a:t>
            </a:r>
            <a:r>
              <a:rPr lang="en-US" sz="1650" b="0" i="0" dirty="0">
                <a:latin typeface="Calibri"/>
              </a:rPr>
              <a:t>   Candidates exceeding 2x: </a:t>
            </a:r>
            <a:r>
              <a:rPr lang="en-US" sz="1650" b="1" i="0" dirty="0">
                <a:latin typeface="Calibri"/>
              </a:rPr>
              <a:t>11 / 22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Highest Excess Volatility: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Matteo Zuppi: 3.71x  |  Baldassare Reina: 3.10x  |  Peter Turkson: 2.73x  |  Francis Arinze: 2.69x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Pierbattista Pizzaballa: 2.43x  |  no new pope be elected in 2025?: 2.24x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</a:t>
            </a:r>
            <a:r>
              <a:rPr lang="en-US" sz="1550" b="1" i="0" dirty="0">
                <a:latin typeface="Calibri"/>
              </a:rPr>
              <a:t>Robert Francis Prevost * (winner): </a:t>
            </a:r>
            <a:r>
              <a:rPr lang="en-US" sz="1550" b="1" i="0" dirty="0">
                <a:solidFill>
                  <a:srgbClr val="C82B00"/>
                </a:solidFill>
                <a:latin typeface="Calibri"/>
              </a:rPr>
              <a:t>2.11x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Interpretation: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VR &gt; 1 means conclave has excess volatility over the matched control period. Since no new information could arrive during the conclave, this excess is attributed to speculative churn and noise trading.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550" b="0" i="0" dirty="0">
                <a:solidFill>
                  <a:srgbClr val="555555"/>
                </a:solidFill>
                <a:latin typeface="Calibri"/>
              </a:rPr>
              <a:t>Notable: Arborelius (0.99x) and Scola (0.78x) show NO excess volatility during conclave.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Method 1: Realized Variance -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12775" y="1311275"/>
            <a:ext cx="8381756" cy="44448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Noise Gap = RV(tick) − RK(tick)  |  Ratio = noise gap conclave / noise gap control  |  22 candidates with valid data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650" b="0" i="0" dirty="0">
                <a:latin typeface="Calibri"/>
              </a:rPr>
              <a:t>Average noise gap ratio: </a:t>
            </a:r>
            <a:r>
              <a:rPr lang="en-US" sz="1650" b="1" i="0" dirty="0">
                <a:solidFill>
                  <a:srgbClr val="C82B00"/>
                </a:solidFill>
                <a:latin typeface="Calibri"/>
              </a:rPr>
              <a:t>2.42x</a:t>
            </a:r>
            <a:r>
              <a:rPr lang="en-US" sz="1650" b="0" i="0" dirty="0">
                <a:latin typeface="Calibri"/>
              </a:rPr>
              <a:t>   Candidates exceeding 2x: </a:t>
            </a:r>
            <a:r>
              <a:rPr lang="en-US" sz="1650" b="1" i="0" dirty="0">
                <a:latin typeface="Calibri"/>
              </a:rPr>
              <a:t>11 / 22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Largest Noise Gap Ratios: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Matteo Zuppi: 4.88x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</a:t>
            </a:r>
            <a:r>
              <a:rPr lang="en-US" sz="1550" b="1" i="0" dirty="0">
                <a:latin typeface="Calibri"/>
              </a:rPr>
              <a:t>Robert Francis Prevost: </a:t>
            </a:r>
            <a:r>
              <a:rPr lang="en-US" sz="1550" b="1" i="0" dirty="0">
                <a:solidFill>
                  <a:srgbClr val="C82B00"/>
                </a:solidFill>
                <a:latin typeface="Calibri"/>
              </a:rPr>
              <a:t>4.72x *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Baldassare Reina: 3.71x  |  Raymond Burke: 3.62x  |  Pierbattista Pizzaballa: 3.55x  |  Robert Sarah: 3.51x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The Prevost Anomaly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The eventual winner shows the 2nd-highest noise gap ratio (4.72x), contradicting the hypothesis that informed traders would reduce noise — or suggesting informed accumulation masked as noise.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550" b="0" i="0" dirty="0">
                <a:solidFill>
                  <a:srgbClr val="555555"/>
                </a:solidFill>
                <a:latin typeface="Calibri"/>
              </a:rPr>
              <a:t>Only outlier: L.A. Tagle (0.76x) — LESS microstructure noise during conclave.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Method 2: Realized Kernel -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1652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3" name="Rectangle 24"/>
          <p:cNvSpPr>
            <a:spLocks noChangeArrowheads="1"/>
          </p:cNvSpPr>
          <p:nvPr/>
        </p:nvSpPr>
        <p:spPr bwMode="auto">
          <a:xfrm>
            <a:off x="601663" y="1056298"/>
            <a:ext cx="8038856" cy="4986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22 candidates with full estimation  |  Average noise share: 82.2% (conclave) | 90.2% (control)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650" b="1" i="0" dirty="0">
                <a:latin typeface="Calibri"/>
              </a:rPr>
              <a:t>Noise share </a:t>
            </a:r>
            <a:r>
              <a:rPr lang="en-US" sz="1650" b="1" i="0" dirty="0">
                <a:solidFill>
                  <a:srgbClr val="C82B00"/>
                </a:solidFill>
                <a:latin typeface="Calibri"/>
              </a:rPr>
              <a:t>INCREASED</a:t>
            </a:r>
            <a:r>
              <a:rPr lang="en-US" sz="1650" b="1" i="0" dirty="0">
                <a:latin typeface="Calibri"/>
              </a:rPr>
              <a:t> for 7 candidates: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Raymond Burke: +18.0pp  |  Peter Turkson: +15.4pp  |  Pierbattista Pizzaballa: +14.7pp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Pietro Parolin: +11.8pp  |  Matteo Zuppi: +11.0pp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650" b="1" i="0" dirty="0">
                <a:latin typeface="Calibri"/>
              </a:rPr>
              <a:t>Noise share </a:t>
            </a:r>
            <a:r>
              <a:rPr lang="en-US" sz="1650" b="1" i="0" dirty="0">
                <a:solidFill>
                  <a:srgbClr val="C82B00"/>
                </a:solidFill>
                <a:latin typeface="Calibri"/>
              </a:rPr>
              <a:t>DECREASED</a:t>
            </a:r>
            <a:r>
              <a:rPr lang="en-US" sz="1650" b="1" i="0" dirty="0">
                <a:latin typeface="Calibri"/>
              </a:rPr>
              <a:t> for 15 candidates: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Francis Arinze: −29.7pp  |  Luis Antonio Tagle: −24.3pp  |  J.T. de Mendonca: −24.2pp</a:t>
            </a:r>
          </a:p>
          <a:p>
            <a:pPr algn="l">
              <a:lnSpc>
                <a:spcPct val="112000"/>
              </a:lnSpc>
            </a:pPr>
            <a:r>
              <a:rPr lang="en-US" sz="1550" b="0" i="0" dirty="0">
                <a:latin typeface="Calibri"/>
              </a:rPr>
              <a:t>    •  Péter Erdő: −24.0pp  |  Mario Grech: −24.0pp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700" b="1" i="0" dirty="0">
                <a:solidFill>
                  <a:srgbClr val="C82B00"/>
                </a:solidFill>
                <a:latin typeface="Calibri"/>
              </a:rPr>
              <a:t>Interpretation: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latin typeface="Calibri"/>
              </a:rPr>
              <a:t>Counterintuitive: noise share fell for most candidates. But absolute variance ROSE (Method 1 confirms). This means the signal component grew proportionally MORE than the noise during conclave.</a:t>
            </a:r>
          </a:p>
          <a:p>
            <a:pPr algn="l">
              <a:lnSpc>
                <a:spcPct val="110000"/>
              </a:lnSpc>
            </a:pPr>
            <a:r>
              <a:rPr lang="en-US" sz="1600" b="0" i="0" dirty="0">
                <a:solidFill>
                  <a:srgbClr val="555555"/>
                </a:solidFill>
                <a:latin typeface="Calibri"/>
              </a:rPr>
              <a:t>Possible: genuine pre-conclave information arrival, or UC model attributing large persistent moves to ‘signal’ even if speculative.</a:t>
            </a:r>
          </a:p>
          <a:p>
            <a:pPr algn="l">
              <a:lnSpc>
                <a:spcPct val="110000"/>
              </a:lnSpc>
            </a:pPr>
            <a:endParaRPr lang="en-US" sz="1200" dirty="0"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600" b="1" i="0" dirty="0">
                <a:latin typeface="Calibri"/>
              </a:rPr>
              <a:t>Prevost (winner): </a:t>
            </a:r>
            <a:r>
              <a:rPr lang="en-US" sz="1600" b="1" i="0" dirty="0">
                <a:solidFill>
                  <a:srgbClr val="C82B00"/>
                </a:solidFill>
                <a:latin typeface="Calibri"/>
              </a:rPr>
              <a:t>+1.5pp only</a:t>
            </a:r>
            <a:r>
              <a:rPr lang="en-US" sz="1600" b="0" i="0" dirty="0">
                <a:latin typeface="Calibri"/>
              </a:rPr>
              <a:t> — smallest positive change, suggesting his price had more signal content relative to other frontrunners.</a:t>
            </a:r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i="0" dirty="0">
                <a:solidFill>
                  <a:srgbClr val="C82B00"/>
                </a:solidFill>
                <a:latin typeface="Calibri"/>
              </a:rPr>
              <a:t>Method 3: State-Space UC Model -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1812925" y="1279525"/>
            <a:ext cx="44354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endParaRPr lang="de-CH" b="0"/>
          </a:p>
        </p:txBody>
      </p:sp>
      <p:sp>
        <p:nvSpPr>
          <p:cNvPr id="15364" name="Text Box 18"/>
          <p:cNvSpPr txBox="1">
            <a:spLocks noChangeArrowheads="1"/>
          </p:cNvSpPr>
          <p:nvPr/>
        </p:nvSpPr>
        <p:spPr bwMode="auto">
          <a:xfrm>
            <a:off x="601663" y="482600"/>
            <a:ext cx="530701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2200" b="0" dirty="0">
                <a:solidFill>
                  <a:srgbClr val="C82B00"/>
                </a:solidFill>
                <a:latin typeface="Calibri"/>
              </a:rPr>
              <a:t>Preliminary </a:t>
            </a:r>
            <a:r>
              <a:rPr lang="en-US" sz="2200" b="0" dirty="0" err="1">
                <a:solidFill>
                  <a:srgbClr val="C82B00"/>
                </a:solidFill>
                <a:latin typeface="Calibri"/>
              </a:rPr>
              <a:t>Visualitation</a:t>
            </a:r>
            <a:endParaRPr lang="en-US" sz="2200" b="0" i="0" dirty="0">
              <a:solidFill>
                <a:srgbClr val="C82B00"/>
              </a:solidFill>
              <a:latin typeface="Calibri"/>
            </a:endParaRPr>
          </a:p>
        </p:txBody>
      </p:sp>
      <p:pic>
        <p:nvPicPr>
          <p:cNvPr id="3" name="Picture 2" descr="A graph showing the number of probabilities&#10;&#10;AI-generated content may be incorrect.">
            <a:extLst>
              <a:ext uri="{FF2B5EF4-FFF2-40B4-BE49-F238E27FC236}">
                <a16:creationId xmlns:a16="http://schemas.microsoft.com/office/drawing/2014/main" id="{EDE32C9F-BEEB-2A04-5E2D-DC2EF02D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125"/>
            <a:ext cx="7772400" cy="332270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291&quot;/&gt;&lt;/object&gt;&lt;object type=&quot;3&quot; unique_id=&quot;10005&quot;&gt;&lt;property id=&quot;20148&quot; value=&quot;5&quot;/&gt;&lt;property id=&quot;20300&quot; value=&quot;Slide 2&quot;/&gt;&lt;property id=&quot;20307&quot; value=&quot;281&quot;/&gt;&lt;/object&gt;&lt;object type=&quot;3&quot; unique_id=&quot;10006&quot;&gt;&lt;property id=&quot;20148&quot; value=&quot;5&quot;/&gt;&lt;property id=&quot;20300&quot; value=&quot;Slide 3&quot;/&gt;&lt;property id=&quot;20307&quot; value=&quot;298&quot;/&gt;&lt;/object&gt;&lt;object type=&quot;3&quot; unique_id=&quot;10007&quot;&gt;&lt;property id=&quot;20148&quot; value=&quot;5&quot;/&gt;&lt;property id=&quot;20300&quot; value=&quot;Slide 4&quot;/&gt;&lt;property id=&quot;20307&quot; value=&quot;268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eer">
  <a:themeElements>
    <a:clrScheme name="Le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+mj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4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32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+mj-lt"/>
          </a:defRPr>
        </a:defPPr>
      </a:lstStyle>
    </a:txDef>
  </a:objectDefaults>
  <a:extraClrSchemeLst>
    <a:extraClrScheme>
      <a:clrScheme name="Le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e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e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99001_uni.li_Powerpoint_Vorlage.potx [Schreibgeschützt]" id="{4CA1246A-6EA2-4D1D-B2EF-1EBC0966E088}" vid="{782F19E5-D5F2-4534-979F-A61F92BFAD4A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1023</Words>
  <Application>Microsoft Macintosh PowerPoint</Application>
  <PresentationFormat>On-screen Show (4:3)</PresentationFormat>
  <Paragraphs>107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Symbol</vt:lpstr>
      <vt:lpstr>Times</vt:lpstr>
      <vt:lpstr>Times New Roman</vt:lpstr>
      <vt:lpstr>Leer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Universität Liechtenstein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uni.li Powerpoint</dc:title>
  <dc:creator>Universität Liechtenstein;Andreas Risch</dc:creator>
  <dc:description>Version 20101220-1640</dc:description>
  <cp:lastModifiedBy>office6</cp:lastModifiedBy>
  <cp:revision>8</cp:revision>
  <cp:lastPrinted>2010-12-07T11:05:51Z</cp:lastPrinted>
  <dcterms:created xsi:type="dcterms:W3CDTF">2010-12-16T09:30:56Z</dcterms:created>
  <dcterms:modified xsi:type="dcterms:W3CDTF">2026-03-05T13:34:19Z</dcterms:modified>
</cp:coreProperties>
</file>